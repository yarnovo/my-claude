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1"/>
  </p:notesMasterIdLst>
  <p:sldIdLst>
    <p:sldId id="260" r:id="rId6"/>
    <p:sldId id="319" r:id="rId7"/>
    <p:sldId id="277" r:id="rId8"/>
    <p:sldId id="365" r:id="rId9"/>
    <p:sldId id="366" r:id="rId10"/>
    <p:sldId id="279" r:id="rId11"/>
    <p:sldId id="363" r:id="rId12"/>
    <p:sldId id="349" r:id="rId13"/>
    <p:sldId id="282" r:id="rId14"/>
    <p:sldId id="289" r:id="rId15"/>
    <p:sldId id="364" r:id="rId16"/>
    <p:sldId id="291" r:id="rId17"/>
    <p:sldId id="293" r:id="rId18"/>
    <p:sldId id="292" r:id="rId19"/>
    <p:sldId id="283" r:id="rId20"/>
    <p:sldId id="326" r:id="rId21"/>
    <p:sldId id="285" r:id="rId22"/>
    <p:sldId id="328" r:id="rId23"/>
    <p:sldId id="334" r:id="rId24"/>
    <p:sldId id="357" r:id="rId25"/>
    <p:sldId id="358" r:id="rId26"/>
    <p:sldId id="359" r:id="rId27"/>
    <p:sldId id="360" r:id="rId28"/>
    <p:sldId id="361" r:id="rId29"/>
    <p:sldId id="36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66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F3669-D35E-0AA4-6FBF-EC99D0E2CC9A}" v="47" dt="2025-12-24T03:21:06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B308E-A38B-4ADA-84A7-CED08128E03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9BD84-0BA9-4355-9071-5F9DE3B25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2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459A-91B9-426F-A7DA-4807AC20B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25691-0BF1-49B5-99A8-250775914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1C66-720A-48AB-A896-D94975E2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66CD5-399F-4508-9A94-7A0027854B67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EF97-94A9-4075-A020-41E575F3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C662-4DDA-4B93-BC98-7774150F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AF3F-6F39-4C3A-8997-51FA77A4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99B6-C8E1-477B-B5B4-2D0B633D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5ADD-C06C-4438-BC64-7CCF299C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6C44-35E4-481D-A6F6-332E4CEA2A85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D9B8-22CD-415D-BFC6-E5BB306B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A416-2902-4E01-98F2-62D51BA4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0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8040-5E0B-41AA-A060-B4D4136D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6F15-933C-4D32-AAA2-D4780797D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289F-C757-4C51-996B-0ED97084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88CC-9291-4A4E-9361-C129C0FEAF69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FD0C-7E61-45A8-9032-664FFD1E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ACE2C-1144-4432-A88E-C87BE73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6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6B32-96F2-4660-9477-E689D047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B76A-65C3-450E-9784-85F33F2A2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E274-A2B0-4FEC-B8B8-391693182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021E-173A-43C8-9879-36702B7F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C6D1-AE32-4F0D-90AC-ADC07B4F5D01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40BA5-AB4E-4087-A9D4-DFE3E44A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029C7-2F85-465D-8E3A-4D9C7A84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5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CC3E-9302-4B78-B527-50C779B4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2BE2-C474-47CF-A5FB-0FFA64CB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501CC-B692-478C-AB33-3F3FAD68F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F6EF6-83FB-4206-A0FE-21393B50C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183B4-987B-44FA-AFEA-75AE3D33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BA844-3F19-41F7-9529-272A592B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A4D26-16FC-44DE-9BC7-ECC48C181539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858E7-46D0-4087-B83D-4E9746F0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A05C9-DB0B-4751-A737-D74F1EA0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82D1-1E85-428A-9643-B2B6E094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BC7DA-53EB-47EE-B8AE-83B109C0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325B9-E0C3-4621-B8EC-D034F29F4C4C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78610-EAAB-4892-8900-2B936D8A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29774-B4C0-4EC8-AF0E-72A6912D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9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79320-8A0E-457A-859B-6A32853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6C181-B45C-43A6-B838-32F29D29BADC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11CC8-2202-4BE9-847B-3E51052E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3AF25-D60C-4AB3-8825-67B4CEA5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7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FC5C-59E7-4C6E-A81B-E8C5A830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3EAB-6C78-4649-9ED8-452D1221D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6FB81-8FCA-4F9E-8C0D-41238EC9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E18A9-DDD7-4A2D-AE9D-700BEACB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1FF73-E056-4D0D-9D13-18E73D5C1E05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43F25-666B-411E-AD9E-5971325D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A7A80-5728-4858-B328-A299A5B9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0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341F-A198-407F-A491-DC5BFD22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83D6B-B18C-44CD-8691-9282D609B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C18CE-896B-4CD5-AA79-71A13210F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A1F28-8BD5-4649-A5D5-C872B0D2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77F41-7E78-454D-9CDE-800142A3E38B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B8288-05B7-4AD1-8C70-2994A15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EDA3E-AC13-4D27-AD32-C154CBA1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7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3165-6753-40EC-BBE1-4A0EA5DC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71C8D-A92C-4B14-80FB-BD8D24934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30EFA-48DB-40F8-BB60-5F4EAB26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C778D-2F58-407B-8138-854A67D0756F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E94B2-0E43-4098-867B-92B2DCD9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D885-3201-465F-8FEE-A7682EBB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0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81077C-8CCB-47DE-A618-A879E863D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D340D-684E-403E-A8FF-D80FDD85E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32CA-9F3F-4E36-9952-4186A187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EF0E-1A18-4A35-9322-37BAD302CE55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51FC-2598-4041-8A37-850E6C12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48C7-2CFE-4550-A78F-B194591D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43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459A-91B9-426F-A7DA-4807AC20B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25691-0BF1-49B5-99A8-250775914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1C66-720A-48AB-A896-D94975E2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476D4-1E9E-47A5-AD95-B80510C7D68A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EF97-94A9-4075-A020-41E575F3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C662-4DDA-4B93-BC98-7774150F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AF3F-6F39-4C3A-8997-51FA77A4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99B6-C8E1-477B-B5B4-2D0B633D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5ADD-C06C-4438-BC64-7CCF299C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BD941-D299-4E72-ACB5-FDAFBB0F82A0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D9B8-22CD-415D-BFC6-E5BB306B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A416-2902-4E01-98F2-62D51BA4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8040-5E0B-41AA-A060-B4D4136D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6F15-933C-4D32-AAA2-D4780797D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289F-C757-4C51-996B-0ED97084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C71A-0E87-4176-B279-385011443D34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FD0C-7E61-45A8-9032-664FFD1E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ACE2C-1144-4432-A88E-C87BE73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05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6B32-96F2-4660-9477-E689D047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B76A-65C3-450E-9784-85F33F2A2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E274-A2B0-4FEC-B8B8-391693182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021E-173A-43C8-9879-36702B7F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8D28-0050-474A-9937-E1E63AAE78EA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40BA5-AB4E-4087-A9D4-DFE3E44A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029C7-2F85-465D-8E3A-4D9C7A84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82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CC3E-9302-4B78-B527-50C779B4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2BE2-C474-47CF-A5FB-0FFA64CB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501CC-B692-478C-AB33-3F3FAD68F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F6EF6-83FB-4206-A0FE-21393B50C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183B4-987B-44FA-AFEA-75AE3D33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BA844-3F19-41F7-9529-272A592B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DED8C-4B81-4B22-9565-B8DC36CCF458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858E7-46D0-4087-B83D-4E9746F0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A05C9-DB0B-4751-A737-D74F1EA0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3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82D1-1E85-428A-9643-B2B6E094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BC7DA-53EB-47EE-B8AE-83B109C0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7CE12-5922-4B6D-B4F9-6B76761695FF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78610-EAAB-4892-8900-2B936D8A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29774-B4C0-4EC8-AF0E-72A6912D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71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79320-8A0E-457A-859B-6A32853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2FBE7-18E1-4F1A-9B2A-06814AE21974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11CC8-2202-4BE9-847B-3E51052E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3AF25-D60C-4AB3-8825-67B4CEA5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48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FC5C-59E7-4C6E-A81B-E8C5A830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3EAB-6C78-4649-9ED8-452D1221D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6FB81-8FCA-4F9E-8C0D-41238EC9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E18A9-DDD7-4A2D-AE9D-700BEACB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7D20-DC2C-4735-BF75-C08E8B29693B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43F25-666B-411E-AD9E-5971325D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A7A80-5728-4858-B328-A299A5B9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48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341F-A198-407F-A491-DC5BFD22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83D6B-B18C-44CD-8691-9282D609B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C18CE-896B-4CD5-AA79-71A13210F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A1F28-8BD5-4649-A5D5-C872B0D2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B0D69-7193-428A-856A-FB00E586D6A6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B8288-05B7-4AD1-8C70-2994A15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EDA3E-AC13-4D27-AD32-C154CBA1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3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3165-6753-40EC-BBE1-4A0EA5DC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71C8D-A92C-4B14-80FB-BD8D24934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30EFA-48DB-40F8-BB60-5F4EAB26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72FB-8464-4621-A70C-4A52C2E23960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E94B2-0E43-4098-867B-92B2DCD9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D885-3201-465F-8FEE-A7682EBB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85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81077C-8CCB-47DE-A618-A879E863D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D340D-684E-403E-A8FF-D80FDD85E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32CA-9F3F-4E36-9952-4186A187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6053-6CC2-48EC-B834-497C97659E08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51FC-2598-4041-8A37-850E6C12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48C7-2CFE-4550-A78F-B194591D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4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9A058-6203-46EC-AEDB-D90780DF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BCF5-9FBC-4C2B-B373-9C8CA943A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032E-4E8F-4ED1-AB69-04939F32D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C445B-4D5A-42F2-9A2A-DE1CF6588EC2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7174-F3EA-4A4C-B78C-AD7741D0D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A25DF-A964-4C72-A358-B2C407AC5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29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9A058-6203-46EC-AEDB-D90780DF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BCF5-9FBC-4C2B-B373-9C8CA943A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032E-4E8F-4ED1-AB69-04939F32D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020C6-52E3-4940-B0B1-279663BBB7AC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7174-F3EA-4A4C-B78C-AD7741D0D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A25DF-A964-4C72-A358-B2C407AC5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9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15" y="1122362"/>
            <a:ext cx="10690697" cy="3799833"/>
          </a:xfrm>
        </p:spPr>
        <p:txBody>
          <a:bodyPr>
            <a:normAutofit/>
          </a:bodyPr>
          <a:lstStyle/>
          <a:p>
            <a:r>
              <a:rPr lang="en-US" dirty="0"/>
              <a:t>GMCC Ocean</a:t>
            </a:r>
            <a:br>
              <a:rPr lang="en-US" dirty="0"/>
            </a:br>
            <a:r>
              <a:rPr lang="en-US" dirty="0"/>
              <a:t>In House Underwriting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520" y="5113176"/>
            <a:ext cx="10020300" cy="1259632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7200" b="1" dirty="0">
                <a:solidFill>
                  <a:srgbClr val="FF0000">
                    <a:alpha val="80000"/>
                  </a:srgbClr>
                </a:solidFill>
              </a:rPr>
              <a:t>Proprietary &amp; Confidential. For </a:t>
            </a:r>
            <a:r>
              <a:rPr lang="en-US" sz="7200" b="1" u="sng" dirty="0">
                <a:solidFill>
                  <a:srgbClr val="FF0000">
                    <a:alpha val="80000"/>
                  </a:srgbClr>
                </a:solidFill>
              </a:rPr>
              <a:t>GMCC</a:t>
            </a:r>
            <a:r>
              <a:rPr lang="en-US" sz="7200" b="1" dirty="0">
                <a:solidFill>
                  <a:srgbClr val="FF0000">
                    <a:alpha val="80000"/>
                  </a:srgbClr>
                </a:solidFill>
              </a:rPr>
              <a:t> Mortgage Professionals Only.  Distribution is strictly prohibited</a:t>
            </a:r>
            <a:endParaRPr lang="en-US" sz="7200" dirty="0"/>
          </a:p>
          <a:p>
            <a:pPr marL="0" indent="0">
              <a:buNone/>
            </a:pPr>
            <a:r>
              <a:rPr lang="en-US" dirty="0"/>
              <a:t>									</a:t>
            </a:r>
            <a:r>
              <a:rPr lang="en-US" sz="4400"/>
              <a:t>V4 12-23-2025</a:t>
            </a:r>
            <a:endParaRPr lang="en-US"/>
          </a:p>
          <a:p>
            <a:endParaRPr lang="en-US" dirty="0"/>
          </a:p>
          <a:p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883" y="278375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EA96D-6805-0CC3-9014-A8C134CF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8AA46-E330-92B6-F089-A74543A6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5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E430-23CF-47FC-9DF4-A836BA325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04E29-6DA8-4B77-BBAB-3118C526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4577A9-D2B3-4401-BE50-BC32F94E59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78B431-9622-48AF-BD91-52DBEB1F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52186" cy="1099980"/>
          </a:xfrm>
          <a:solidFill>
            <a:srgbClr val="7030A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Special</a:t>
            </a:r>
          </a:p>
        </p:txBody>
      </p:sp>
      <p:pic>
        <p:nvPicPr>
          <p:cNvPr id="6" name="Picture 5" descr="C:\Users\cchan\Desktop\GMCC Logo new 2014.png">
            <a:extLst>
              <a:ext uri="{FF2B5EF4-FFF2-40B4-BE49-F238E27FC236}">
                <a16:creationId xmlns:a16="http://schemas.microsoft.com/office/drawing/2014/main" id="{81078EFE-5F1A-4DFD-8007-C2898BF65A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225" y="140719"/>
            <a:ext cx="2729918" cy="8742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5095E73-EF92-441F-854C-B6002B7325E9}"/>
              </a:ext>
            </a:extLst>
          </p:cNvPr>
          <p:cNvSpPr txBox="1">
            <a:spLocks/>
          </p:cNvSpPr>
          <p:nvPr/>
        </p:nvSpPr>
        <p:spPr>
          <a:xfrm>
            <a:off x="0" y="1085218"/>
            <a:ext cx="12075459" cy="57727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>
                <a:solidFill>
                  <a:srgbClr val="FF0000"/>
                </a:solidFill>
                <a:highlight>
                  <a:srgbClr val="FFFF00"/>
                </a:highlight>
              </a:rPr>
              <a:t>5/6 ARM – 5.875% at par (as of 12-23-2025)-Exclusively for GMCC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Pricing on rate sheet – Send out by Jarrad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Reserve requirements – 3-6 months + additional for departing</a:t>
            </a:r>
            <a:endParaRPr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Ocean is available in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CA, </a:t>
            </a: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</a:rPr>
              <a:t>TX, NV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No tax documents needed (no tax return, no w2, no paystubs, no 4506-C)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WVOE, CPA prepared P&amp;L, </a:t>
            </a: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</a:rPr>
              <a:t>Borrower prepared P&amp;L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u="sng" dirty="0">
                <a:solidFill>
                  <a:schemeClr val="tx1"/>
                </a:solidFill>
              </a:rPr>
              <a:t>100% gift funds ok for primary only</a:t>
            </a:r>
            <a:endParaRPr lang="en-US" sz="2200" dirty="0">
              <a:solidFill>
                <a:schemeClr val="tx1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Citizen, green card holder, and foreign national ok (No EAD card holder at this time)</a:t>
            </a:r>
            <a:endParaRPr lang="en-US" sz="22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NO PPP for investment.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chemeClr val="tx1"/>
                </a:solidFill>
              </a:rPr>
              <a:t>Max 10 financed properties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Private landlord VOR OK-No need for proof of rent payment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AB854A-480F-82F7-7D76-398509E9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50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899" y="136525"/>
            <a:ext cx="8686801" cy="9373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01" y="1026407"/>
            <a:ext cx="11638395" cy="52576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98145" lvl="3" algn="l">
              <a:lnSpc>
                <a:spcPct val="120000"/>
              </a:lnSpc>
            </a:pPr>
            <a:r>
              <a:rPr lang="en-US" sz="2800" dirty="0"/>
              <a:t>3 ways to qualify:</a:t>
            </a:r>
          </a:p>
          <a:p>
            <a:pPr marL="398145" lvl="3" algn="l">
              <a:lnSpc>
                <a:spcPct val="120000"/>
              </a:lnSpc>
            </a:pPr>
            <a:endParaRPr lang="en-US" sz="2800" dirty="0"/>
          </a:p>
          <a:p>
            <a:pPr marL="912495" lvl="3" indent="-514350" algn="l">
              <a:lnSpc>
                <a:spcPct val="120000"/>
              </a:lnSpc>
              <a:buAutoNum type="arabicParenR"/>
            </a:pPr>
            <a:r>
              <a:rPr lang="en-US" sz="2800" dirty="0"/>
              <a:t>WVOE for wage earners (less then 25% ownership in the business)</a:t>
            </a:r>
            <a:endParaRPr lang="en-US" sz="2800" dirty="0">
              <a:cs typeface="Calibri" panose="020F0502020204030204"/>
            </a:endParaRPr>
          </a:p>
          <a:p>
            <a:pPr marL="912495" lvl="3" indent="-514350" algn="l">
              <a:lnSpc>
                <a:spcPct val="120000"/>
              </a:lnSpc>
              <a:buAutoNum type="arabicParenR"/>
            </a:pPr>
            <a:r>
              <a:rPr lang="en-US" sz="2800" dirty="0"/>
              <a:t>CPA prepared P&amp;L</a:t>
            </a:r>
            <a:endParaRPr lang="en-US" sz="2800" dirty="0">
              <a:cs typeface="Calibri" panose="020F0502020204030204"/>
            </a:endParaRPr>
          </a:p>
          <a:p>
            <a:pPr marL="398145" lvl="3" algn="l">
              <a:lnSpc>
                <a:spcPct val="120000"/>
              </a:lnSpc>
            </a:pPr>
            <a:r>
              <a:rPr lang="en-US" sz="2800" dirty="0">
                <a:cs typeface="Calibri" panose="020F0502020204030204"/>
              </a:rPr>
              <a:t>3)   </a:t>
            </a:r>
            <a:r>
              <a:rPr lang="en-US" sz="2800" dirty="0">
                <a:solidFill>
                  <a:srgbClr val="FF0000"/>
                </a:solidFill>
                <a:cs typeface="Calibri"/>
              </a:rPr>
              <a:t>Borrower prepared P&amp;L</a:t>
            </a:r>
            <a:r>
              <a:rPr lang="en-US" sz="2800" dirty="0"/>
              <a:t> </a:t>
            </a:r>
          </a:p>
          <a:p>
            <a:pPr marL="398145" lvl="3" algn="l">
              <a:lnSpc>
                <a:spcPct val="120000"/>
              </a:lnSpc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ACCD8-04C4-4E84-022F-747CA935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3041-F565-FA9A-892A-D56ACA690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346" y="78159"/>
            <a:ext cx="8686801" cy="9373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F3653-6942-086D-4656-BED6F62F6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1743" y="1671866"/>
            <a:ext cx="3312374" cy="47024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98145" lvl="3" algn="l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cs typeface="Calibri"/>
              </a:rPr>
              <a:t>No hit for Borrower prepared P&amp;L</a:t>
            </a:r>
          </a:p>
          <a:p>
            <a:pPr marL="398145" lvl="3" algn="l">
              <a:lnSpc>
                <a:spcPct val="120000"/>
              </a:lnSpc>
            </a:pPr>
            <a:r>
              <a:rPr lang="en-US" sz="2000" dirty="0">
                <a:cs typeface="Calibri"/>
              </a:rPr>
              <a:t>Example:</a:t>
            </a:r>
          </a:p>
          <a:p>
            <a:pPr marL="398145" lvl="3" algn="l">
              <a:lnSpc>
                <a:spcPct val="120000"/>
              </a:lnSpc>
            </a:pPr>
            <a:r>
              <a:rPr lang="en-US" sz="2000" dirty="0">
                <a:cs typeface="Calibri"/>
              </a:rPr>
              <a:t>US citizen with 700 FICO</a:t>
            </a:r>
          </a:p>
          <a:p>
            <a:pPr marL="398145" lvl="3" algn="l">
              <a:lnSpc>
                <a:spcPct val="120000"/>
              </a:lnSpc>
            </a:pPr>
            <a:r>
              <a:rPr lang="en-US" sz="2000" dirty="0">
                <a:cs typeface="Calibri"/>
              </a:rPr>
              <a:t>Purchase SFR as primary</a:t>
            </a:r>
          </a:p>
          <a:p>
            <a:pPr marL="398145" lvl="3" algn="l">
              <a:lnSpc>
                <a:spcPct val="120000"/>
              </a:lnSpc>
            </a:pPr>
            <a:r>
              <a:rPr lang="en-US" sz="2000" dirty="0">
                <a:cs typeface="Calibri"/>
              </a:rPr>
              <a:t>No price adj is needed so pricing is</a:t>
            </a:r>
          </a:p>
          <a:p>
            <a:pPr marL="398145" lvl="3" algn="l">
              <a:lnSpc>
                <a:spcPct val="120000"/>
              </a:lnSpc>
            </a:pPr>
            <a:r>
              <a:rPr lang="en-US" sz="2000">
                <a:highlight>
                  <a:srgbClr val="FFFF00"/>
                </a:highlight>
                <a:cs typeface="Calibri"/>
              </a:rPr>
              <a:t>5.875% at 100 </a:t>
            </a:r>
            <a:endParaRPr lang="en-US" sz="2000">
              <a:highlight>
                <a:srgbClr val="FFFF00"/>
              </a:highlight>
              <a:ea typeface="Calibri"/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0.25% Rate reduction for purchase transaction </a:t>
            </a:r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LTV&lt;=60%</a:t>
            </a:r>
            <a:endParaRPr lang="en-US" sz="2000">
              <a:solidFill>
                <a:srgbClr val="FF0000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endParaRPr lang="en-US" sz="2000" dirty="0">
              <a:solidFill>
                <a:srgbClr val="FF0000"/>
              </a:solidFill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endParaRPr lang="en-US" sz="2000" dirty="0">
              <a:solidFill>
                <a:srgbClr val="FF0000"/>
              </a:solidFill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37F2F256-9287-E2B7-D213-4E2556D93F8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0276-A1FF-57E8-B9D5-222D0EA3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325D-BF79-5090-6DAD-D1771236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C96B82-7D82-8E06-77A1-B491244C6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7" y="967153"/>
            <a:ext cx="6553201" cy="575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8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D999-8283-23AB-F77B-F0F1FE1C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08DB-DF03-B47C-12F7-BD2D6BE5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346" y="78159"/>
            <a:ext cx="8686801" cy="787603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>
                <a:latin typeface="+mn-lt"/>
              </a:rPr>
              <a:t>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6BF4F-0343-F1F9-0BF4-EB9552879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01" y="1026407"/>
            <a:ext cx="11638395" cy="52576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98145" lvl="3" algn="l">
              <a:lnSpc>
                <a:spcPct val="120000"/>
              </a:lnSpc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 marL="398145" lvl="3" algn="l">
              <a:lnSpc>
                <a:spcPct val="120000"/>
              </a:lnSpc>
            </a:pPr>
            <a:endParaRPr lang="en-US" sz="2800" dirty="0">
              <a:solidFill>
                <a:srgbClr val="FF0000"/>
              </a:solidFill>
              <a:cs typeface="Calibri"/>
            </a:endParaRP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346BEB95-CD6D-FD4D-B0D7-51F6F21D3D3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2065-E7E0-0A3D-7A5B-20567258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19347-CD2B-CF69-976C-8F17AAD2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224BC3-9760-BB7B-D8B0-2968908B6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50" y="938044"/>
            <a:ext cx="7067191" cy="5636927"/>
          </a:xfrm>
          <a:prstGeom prst="rect">
            <a:avLst/>
          </a:prstGeom>
        </p:spPr>
      </p:pic>
      <p:pic>
        <p:nvPicPr>
          <p:cNvPr id="8" name="Picture 7" descr="A table with green and yellow text&#10;&#10;AI-generated content may be incorrect.">
            <a:extLst>
              <a:ext uri="{FF2B5EF4-FFF2-40B4-BE49-F238E27FC236}">
                <a16:creationId xmlns:a16="http://schemas.microsoft.com/office/drawing/2014/main" id="{28EF0A0A-F844-BAFF-1916-0D28D0C14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950" y="4158761"/>
            <a:ext cx="5401408" cy="145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74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45" y="2833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Eligible borrower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838" y="1227149"/>
            <a:ext cx="11240093" cy="5233640"/>
          </a:xfrm>
        </p:spPr>
        <p:txBody>
          <a:bodyPr>
            <a:noAutofit/>
          </a:bodyPr>
          <a:lstStyle/>
          <a:p>
            <a:r>
              <a:rPr lang="en-US" dirty="0"/>
              <a:t>US Citizen </a:t>
            </a:r>
          </a:p>
          <a:p>
            <a:r>
              <a:rPr lang="en-US" dirty="0"/>
              <a:t>Permanent Resident</a:t>
            </a:r>
          </a:p>
          <a:p>
            <a:r>
              <a:rPr lang="en-US" dirty="0"/>
              <a:t>Working VISA holder – ok – E1, E2, G1 to G5, H1b, L1</a:t>
            </a:r>
          </a:p>
          <a:p>
            <a:r>
              <a:rPr lang="en-US" dirty="0">
                <a:solidFill>
                  <a:srgbClr val="FF0000"/>
                </a:solidFill>
              </a:rPr>
              <a:t>Foreign National ok, no F1 &amp;F2</a:t>
            </a:r>
            <a:endParaRPr lang="en-US" dirty="0"/>
          </a:p>
          <a:p>
            <a:r>
              <a:rPr lang="en-US" dirty="0"/>
              <a:t>POA ok – except for foreign national and for cashout transactions.</a:t>
            </a:r>
          </a:p>
          <a:p>
            <a:r>
              <a:rPr lang="en-US" dirty="0"/>
              <a:t>Co-signor – not allowed</a:t>
            </a:r>
          </a:p>
          <a:p>
            <a:r>
              <a:rPr lang="en-US" dirty="0"/>
              <a:t>Non-occupant Co-Borrower – ok for primary– must be on title</a:t>
            </a:r>
          </a:p>
          <a:p>
            <a:r>
              <a:rPr lang="en-US" dirty="0"/>
              <a:t>Tenants in common vesting – not allowed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02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0C52-7101-4A0A-01A5-FDE8F645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DE23-2D37-B627-3F2F-3736D086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45" y="2833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Eligible borrower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E5905-0AFE-BEF8-2613-6E4447EA0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66" y="1249457"/>
            <a:ext cx="11775057" cy="5472017"/>
          </a:xfrm>
        </p:spPr>
        <p:txBody>
          <a:bodyPr>
            <a:noAutofit/>
          </a:bodyPr>
          <a:lstStyle/>
          <a:p>
            <a:r>
              <a:rPr lang="en-US" dirty="0"/>
              <a:t>Foreign National </a:t>
            </a:r>
          </a:p>
          <a:p>
            <a:pPr lvl="1"/>
            <a:r>
              <a:rPr lang="en-US" sz="2800" dirty="0"/>
              <a:t>no borrower prepared </a:t>
            </a:r>
            <a:r>
              <a:rPr lang="en-US" sz="2800" dirty="0" err="1"/>
              <a:t>p&amp;l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Need valid visa B1, B1, H2, H3, I, J, K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Accept ESTA approval(for borrower on VISA Waiver Program)-07-09-2025</a:t>
            </a:r>
          </a:p>
          <a:p>
            <a:pPr lvl="1"/>
            <a:r>
              <a:rPr lang="en-US" sz="2800" dirty="0"/>
              <a:t>No POA</a:t>
            </a:r>
          </a:p>
          <a:p>
            <a:pPr lvl="1"/>
            <a:r>
              <a:rPr lang="en-US" sz="2800" dirty="0"/>
              <a:t>No gift funds allowed</a:t>
            </a:r>
          </a:p>
          <a:p>
            <a:pPr lvl="1"/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home or investment only</a:t>
            </a:r>
          </a:p>
          <a:p>
            <a:pPr lvl="1"/>
            <a:r>
              <a:rPr lang="en-US" sz="2800" dirty="0"/>
              <a:t>Funds in US bank</a:t>
            </a:r>
          </a:p>
          <a:p>
            <a:pPr lvl="1"/>
            <a:r>
              <a:rPr lang="en-US" sz="2800" dirty="0"/>
              <a:t>DTI 38%/38%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F5D0A-2CE6-F4E2-E1E7-551B3D76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DCBD-EA8C-F13E-88AF-DCE8DE88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BDD9E5B1-75E2-CA9B-044D-BEE7ECD9F84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03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45" y="28334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Transactions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73" y="1026111"/>
            <a:ext cx="11240093" cy="54374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Purchase – ok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R/T-		One borrower must be on title at time of application</a:t>
            </a:r>
          </a:p>
          <a:p>
            <a:pPr marL="0" indent="0">
              <a:buNone/>
            </a:pPr>
            <a:r>
              <a:rPr lang="en-US" sz="2400" dirty="0"/>
              <a:t>		 List for sales must be withdrawn </a:t>
            </a:r>
            <a:r>
              <a:rPr lang="en-US" sz="2400" dirty="0">
                <a:solidFill>
                  <a:srgbClr val="FF0000"/>
                </a:solidFill>
              </a:rPr>
              <a:t>PRIOR to application</a:t>
            </a:r>
          </a:p>
          <a:p>
            <a:pPr marL="0" indent="0">
              <a:buNone/>
            </a:pPr>
            <a:r>
              <a:rPr lang="en-US" sz="2400" dirty="0"/>
              <a:t>		Use appraised value regardless the purchase date.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Cash Out – 	Current mortgage to be paid off must have 12 months seasoning</a:t>
            </a:r>
          </a:p>
          <a:p>
            <a:pPr marL="0" indent="0">
              <a:buNone/>
            </a:pPr>
            <a:r>
              <a:rPr lang="en-US" sz="2400" dirty="0"/>
              <a:t>		One borrower must be on title for 6 months (prior to closing)</a:t>
            </a:r>
          </a:p>
          <a:p>
            <a:pPr marL="0" indent="0">
              <a:buNone/>
            </a:pPr>
            <a:r>
              <a:rPr lang="en-US" sz="2400" dirty="0"/>
              <a:t>		List for sales must be withdrawn </a:t>
            </a:r>
            <a:r>
              <a:rPr lang="en-US" sz="2400" dirty="0">
                <a:solidFill>
                  <a:srgbClr val="FF0000"/>
                </a:solidFill>
              </a:rPr>
              <a:t>PRIOR to application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Delayed financing -	property purchased within 6 months</a:t>
            </a:r>
          </a:p>
          <a:p>
            <a:pPr marL="0" indent="0">
              <a:buNone/>
            </a:pPr>
            <a:r>
              <a:rPr lang="en-US" sz="2400" dirty="0"/>
              <a:t>			priced as cash out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439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88" y="158936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DTI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86" y="1330698"/>
            <a:ext cx="10515600" cy="4759197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Max DTI 38/43%, Foreign National – 38/38%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Purchase, R/T or cash out – same DTI requirement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11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82" y="136525"/>
            <a:ext cx="10515600" cy="904335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Income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41" y="1032716"/>
            <a:ext cx="10967718" cy="5323634"/>
          </a:xfrm>
        </p:spPr>
        <p:txBody>
          <a:bodyPr>
            <a:noAutofit/>
          </a:bodyPr>
          <a:lstStyle/>
          <a:p>
            <a:r>
              <a:rPr lang="en-US" sz="3200" dirty="0"/>
              <a:t>Wage earner</a:t>
            </a:r>
            <a:endParaRPr lang="en-US" sz="3200" u="sng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sz="3200" dirty="0"/>
          </a:p>
          <a:p>
            <a:pPr lvl="1"/>
            <a:r>
              <a:rPr lang="en-US" sz="2800" b="1" u="sng" dirty="0">
                <a:solidFill>
                  <a:srgbClr val="FF0000"/>
                </a:solidFill>
              </a:rPr>
              <a:t>WVOE</a:t>
            </a:r>
            <a:r>
              <a:rPr lang="en-US" sz="2800" dirty="0"/>
              <a:t> (Fannie Mae form) signed by </a:t>
            </a:r>
            <a:r>
              <a:rPr lang="en-US" sz="2800" b="1" u="sng" dirty="0">
                <a:solidFill>
                  <a:srgbClr val="FF0000"/>
                </a:solidFill>
              </a:rPr>
              <a:t>HR, Accounting or owner. </a:t>
            </a:r>
            <a:r>
              <a:rPr lang="en-US" sz="2800" dirty="0"/>
              <a:t>Income should be inline with position.</a:t>
            </a:r>
          </a:p>
          <a:p>
            <a:pPr lvl="1"/>
            <a:r>
              <a:rPr lang="en-US" sz="2800" dirty="0"/>
              <a:t>WVOE must contain: Dates of employment, Position, Prospect of continue employment, based pay amount and frequency.</a:t>
            </a:r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requires two years of work history at the same place of employment or in a similar field. 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pPr lvl="2"/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645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A806-40BB-7BD7-2113-66B7BFEE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2467-E79A-B07E-F5E2-053040C5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58" y="21796"/>
            <a:ext cx="10515600" cy="948516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Income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808A-DB0F-5B04-9B9C-9B0CA0A5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8" y="766311"/>
            <a:ext cx="11196084" cy="561531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Self Employed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Option 1: </a:t>
            </a:r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Borrower prepared P&amp;L</a:t>
            </a:r>
          </a:p>
          <a:p>
            <a:pPr marL="0" indent="0">
              <a:buNone/>
            </a:pPr>
            <a:r>
              <a:rPr lang="en-US" sz="2400" dirty="0"/>
              <a:t>	Need CPA letter for ownership %</a:t>
            </a:r>
          </a:p>
          <a:p>
            <a:pPr marL="0" indent="0">
              <a:buNone/>
            </a:pPr>
            <a:r>
              <a:rPr lang="en-US" sz="2400" dirty="0"/>
              <a:t>	Need CPA letter if using business funds</a:t>
            </a:r>
          </a:p>
          <a:p>
            <a:pPr marL="0" indent="0">
              <a:buNone/>
            </a:pPr>
            <a:r>
              <a:rPr lang="en-US" sz="2400" dirty="0"/>
              <a:t>	Need 2 years Business License</a:t>
            </a:r>
          </a:p>
          <a:p>
            <a:pPr marL="0" indent="0">
              <a:buNone/>
            </a:pPr>
            <a:r>
              <a:rPr lang="en-US" sz="2400" dirty="0"/>
              <a:t>	CPA needs to say they had filed the business tax returns for the last 2 years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Option 2 (For borrower has no business license)   CPA prepared P&amp;L</a:t>
            </a:r>
          </a:p>
          <a:p>
            <a:pPr marL="0" indent="0">
              <a:buNone/>
            </a:pPr>
            <a:r>
              <a:rPr lang="en-US" sz="2400" dirty="0"/>
              <a:t>	Need CPA letter for ownership %</a:t>
            </a:r>
          </a:p>
          <a:p>
            <a:pPr marL="0" indent="0">
              <a:buNone/>
            </a:pPr>
            <a:r>
              <a:rPr lang="en-US" sz="2400" dirty="0"/>
              <a:t>	Need CPA letter if using business funds</a:t>
            </a:r>
          </a:p>
          <a:p>
            <a:pPr marL="0" indent="0">
              <a:buNone/>
            </a:pPr>
            <a:r>
              <a:rPr lang="en-US" sz="2400" dirty="0"/>
              <a:t>	CPA needs to say they had filed the business tax returns for the last 2 years</a:t>
            </a:r>
          </a:p>
          <a:p>
            <a:pPr marL="0" indent="0">
              <a:buNone/>
            </a:pPr>
            <a:r>
              <a:rPr lang="en-US" sz="2400" dirty="0"/>
              <a:t>	Need LOE to explain business nature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F971F-AFF0-07C2-421F-EDF2A7E1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D2AC7-40FF-4134-5956-CFD3F1FC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A92698BE-C6E6-4EF0-3906-5AE6B29E9D6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22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58" y="21796"/>
            <a:ext cx="10515600" cy="948516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Income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8" y="766311"/>
            <a:ext cx="11196084" cy="5615315"/>
          </a:xfrm>
        </p:spPr>
        <p:txBody>
          <a:bodyPr>
            <a:noAutofit/>
          </a:bodyPr>
          <a:lstStyle/>
          <a:p>
            <a:r>
              <a:rPr lang="en-US" dirty="0"/>
              <a:t>Self Employed –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P&amp;L</a:t>
            </a:r>
            <a:r>
              <a:rPr lang="en-US" sz="2200" dirty="0"/>
              <a:t> prepared by tax preparer (CPA, EA, CTEC, PTIN) </a:t>
            </a:r>
            <a:r>
              <a:rPr lang="en-US" sz="2200" b="1" dirty="0">
                <a:solidFill>
                  <a:srgbClr val="00B050"/>
                </a:solidFill>
              </a:rPr>
              <a:t>or </a:t>
            </a:r>
            <a:r>
              <a:rPr lang="en-US" sz="2200" b="1" u="sng" dirty="0">
                <a:solidFill>
                  <a:srgbClr val="00B050"/>
                </a:solidFill>
                <a:highlight>
                  <a:srgbClr val="FFFF00"/>
                </a:highlight>
              </a:rPr>
              <a:t>by borrower</a:t>
            </a:r>
            <a:r>
              <a:rPr lang="en-US" sz="2200" dirty="0">
                <a:highlight>
                  <a:srgbClr val="FFFF00"/>
                </a:highlight>
              </a:rPr>
              <a:t>. </a:t>
            </a:r>
          </a:p>
          <a:p>
            <a:pPr lvl="2"/>
            <a:r>
              <a:rPr lang="en-US" sz="1800" dirty="0"/>
              <a:t>Application date before 7/1 – need YTD and last year (12 </a:t>
            </a:r>
            <a:r>
              <a:rPr lang="en-US" sz="1800" dirty="0" err="1"/>
              <a:t>mos</a:t>
            </a:r>
            <a:r>
              <a:rPr lang="en-US" sz="1800" dirty="0"/>
              <a:t>) P&amp;L</a:t>
            </a:r>
          </a:p>
          <a:p>
            <a:pPr lvl="2"/>
            <a:r>
              <a:rPr lang="en-US" sz="1800" dirty="0"/>
              <a:t>Application date after 6/30 – need YTD P&amp;L </a:t>
            </a:r>
          </a:p>
          <a:p>
            <a:pPr lvl="2"/>
            <a:r>
              <a:rPr lang="en-US" sz="1600" b="0" i="0" u="none" strike="noStrike" baseline="0" dirty="0">
                <a:latin typeface="Trebuchet MS" panose="020B0603020202020204" pitchFamily="34" charset="0"/>
              </a:rPr>
              <a:t>P&amp;L must be dated as MM/DD/YYYY – MM/DD/YYYY</a:t>
            </a:r>
            <a:endParaRPr lang="en-US" sz="1800" dirty="0"/>
          </a:p>
          <a:p>
            <a:pPr lvl="1"/>
            <a:r>
              <a:rPr lang="en-US" sz="2200" b="1" dirty="0">
                <a:solidFill>
                  <a:srgbClr val="FF0000"/>
                </a:solidFill>
              </a:rPr>
              <a:t>Tax preparer letter (on formal letter head) </a:t>
            </a:r>
            <a:r>
              <a:rPr lang="en-US" sz="2200" dirty="0"/>
              <a:t>confirming</a:t>
            </a:r>
          </a:p>
          <a:p>
            <a:pPr lvl="2"/>
            <a:r>
              <a:rPr lang="en-US" sz="1800" dirty="0"/>
              <a:t>filed borrower’s last 2 years business tax returns</a:t>
            </a:r>
          </a:p>
          <a:p>
            <a:pPr lvl="2"/>
            <a:r>
              <a:rPr lang="en-US" sz="1800" dirty="0"/>
              <a:t>Confirm borrower has been in business for 2 years or more at the same location(must disclose company name and address)</a:t>
            </a:r>
          </a:p>
          <a:p>
            <a:pPr lvl="2"/>
            <a:r>
              <a:rPr lang="en-US" sz="1800" dirty="0"/>
              <a:t>Confirm borrower’s business ownership %</a:t>
            </a:r>
          </a:p>
          <a:p>
            <a:pPr lvl="2"/>
            <a:r>
              <a:rPr lang="en-US" sz="1800" dirty="0"/>
              <a:t>Tax preparer license may be verified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sz="2200" b="1" u="sng" dirty="0">
                <a:solidFill>
                  <a:srgbClr val="FF0000"/>
                </a:solidFill>
                <a:highlight>
                  <a:srgbClr val="FFFF00"/>
                </a:highlight>
              </a:rPr>
              <a:t>AND</a:t>
            </a:r>
          </a:p>
          <a:p>
            <a:pPr lvl="1"/>
            <a:r>
              <a:rPr lang="en-US" sz="2200" dirty="0"/>
              <a:t>2 Years of current </a:t>
            </a:r>
            <a:r>
              <a:rPr lang="en-US" sz="2200" b="1" dirty="0">
                <a:solidFill>
                  <a:srgbClr val="FF0000"/>
                </a:solidFill>
              </a:rPr>
              <a:t>business license if using borrower prepared P&amp;L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Acceptable business license: a: Professional license, e.g. Real Estate License, Cosmetologist license, Insurance license, Massage therapist license, </a:t>
            </a:r>
            <a:r>
              <a:rPr lang="en-US" sz="2200" dirty="0" err="1"/>
              <a:t>etc</a:t>
            </a:r>
            <a:r>
              <a:rPr lang="en-US" sz="2200" dirty="0"/>
              <a:t>; b: City business license.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1203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58" y="2179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Income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8" y="1249458"/>
            <a:ext cx="11196084" cy="53860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/>
              <a:t>Rental income</a:t>
            </a:r>
          </a:p>
          <a:p>
            <a:pPr marL="0" indent="0">
              <a:buNone/>
            </a:pPr>
            <a:endParaRPr lang="en-US" sz="3000" dirty="0"/>
          </a:p>
          <a:p>
            <a:pPr lvl="1"/>
            <a:r>
              <a:rPr lang="en-US" dirty="0"/>
              <a:t>Investment Purchase – need rent survey + lease agreement ( if vacant, only 1007 is needed)</a:t>
            </a:r>
          </a:p>
          <a:p>
            <a:pPr lvl="1"/>
            <a:r>
              <a:rPr lang="en-US" dirty="0"/>
              <a:t>Use 75% </a:t>
            </a:r>
          </a:p>
          <a:p>
            <a:pPr lvl="1"/>
            <a:r>
              <a:rPr lang="en-US" dirty="0"/>
              <a:t>Short term rental – not allowed</a:t>
            </a:r>
          </a:p>
          <a:p>
            <a:pPr lvl="1"/>
            <a:r>
              <a:rPr lang="en-US" dirty="0"/>
              <a:t>Using rental for REOs – use 75% of lease agreement</a:t>
            </a:r>
          </a:p>
          <a:p>
            <a:pPr lvl="1"/>
            <a:r>
              <a:rPr lang="en-US" dirty="0"/>
              <a:t>Using departure rental:</a:t>
            </a:r>
          </a:p>
          <a:p>
            <a:pPr lvl="2"/>
            <a:r>
              <a:rPr lang="en-US" sz="2400" dirty="0"/>
              <a:t>Use 75% of lease agreement</a:t>
            </a:r>
          </a:p>
          <a:p>
            <a:pPr lvl="2"/>
            <a:r>
              <a:rPr lang="en-US" sz="2400" dirty="0"/>
              <a:t>Need copy of security deposit check</a:t>
            </a:r>
          </a:p>
          <a:p>
            <a:pPr lvl="2"/>
            <a:r>
              <a:rPr lang="en-US" sz="2400" dirty="0"/>
              <a:t>Need additional 3 months reserve (based on departing PITIA)</a:t>
            </a:r>
          </a:p>
          <a:p>
            <a:pPr marL="3657600" lvl="8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92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Credit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042" y="1247972"/>
            <a:ext cx="10515600" cy="3201893"/>
          </a:xfrm>
        </p:spPr>
        <p:txBody>
          <a:bodyPr>
            <a:noAutofit/>
          </a:bodyPr>
          <a:lstStyle/>
          <a:p>
            <a:r>
              <a:rPr lang="en-US" dirty="0"/>
              <a:t>Min FICO 680 (must have 3 FICO)</a:t>
            </a:r>
          </a:p>
          <a:p>
            <a:r>
              <a:rPr lang="en-US" dirty="0"/>
              <a:t>2 tradelines with 12 months seasoning</a:t>
            </a:r>
          </a:p>
          <a:p>
            <a:r>
              <a:rPr lang="en-US" dirty="0"/>
              <a:t>0x30 on VOR or VOM</a:t>
            </a:r>
          </a:p>
          <a:p>
            <a:r>
              <a:rPr lang="en-US" dirty="0"/>
              <a:t>Bankruptcy/Foreclosures – 4 years</a:t>
            </a:r>
          </a:p>
          <a:p>
            <a:r>
              <a:rPr lang="en-US" dirty="0"/>
              <a:t>Short sales – 2 years</a:t>
            </a:r>
          </a:p>
          <a:p>
            <a:r>
              <a:rPr lang="en-US" dirty="0"/>
              <a:t>Non-traditional credit is allowed if not enough tradelines</a:t>
            </a:r>
          </a:p>
          <a:p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endParaRPr lang="en-US" sz="1200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4256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86" y="276132"/>
            <a:ext cx="8686801" cy="856719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Assets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705" y="1132851"/>
            <a:ext cx="11432303" cy="50617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1 month of bank statement or VOD </a:t>
            </a:r>
            <a:r>
              <a:rPr lang="en-US" dirty="0"/>
              <a:t>(VOD preferred). </a:t>
            </a:r>
            <a:endParaRPr lang="en-US" dirty="0">
              <a:cs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100% Gift funds for down payment and cash to close is ok for primary and 2</a:t>
            </a:r>
            <a:r>
              <a:rPr lang="en-US" baseline="30000" dirty="0"/>
              <a:t>nd</a:t>
            </a:r>
            <a:r>
              <a:rPr lang="en-US" dirty="0"/>
              <a:t> home.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Gift funds </a:t>
            </a:r>
            <a:r>
              <a:rPr lang="en-US" b="1" u="sng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rgbClr val="FF0000"/>
                </a:solidFill>
              </a:rPr>
              <a:t> allowed on Investment purchase</a:t>
            </a:r>
            <a:r>
              <a:rPr lang="en-US" dirty="0"/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Gift funds not allowed for Foreign National Borrower.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Gift funds cannot be for reserve.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Large deposit – 50% of monthly income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Stock &amp; bond – value at 70%;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Retirement – value at 70%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Cash out proceeds can be used as reserve</a:t>
            </a:r>
          </a:p>
          <a:p>
            <a:pPr algn="l"/>
            <a:endParaRPr lang="en-US" sz="2800" dirty="0"/>
          </a:p>
          <a:p>
            <a:pPr algn="l">
              <a:lnSpc>
                <a:spcPct val="120000"/>
              </a:lnSpc>
            </a:pPr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4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86" y="276132"/>
            <a:ext cx="8686801" cy="856719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Reserve – Alt Doc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297" y="1683648"/>
            <a:ext cx="11432303" cy="4322705"/>
          </a:xfrm>
        </p:spPr>
        <p:txBody>
          <a:bodyPr>
            <a:noAutofit/>
          </a:bodyPr>
          <a:lstStyle/>
          <a:p>
            <a:pPr algn="l"/>
            <a:r>
              <a:rPr lang="en-US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Reserve required as follows: 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Primary: 3 months (PITIA reserve by qual rate) </a:t>
            </a:r>
          </a:p>
          <a:p>
            <a:pPr algn="l"/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Second/Investment: 6 months (PITIA reserve by qual rate) 	</a:t>
            </a:r>
          </a:p>
          <a:p>
            <a:pPr algn="l"/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084263" indent="-1084263" algn="l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Departing home (converted to 2</a:t>
            </a:r>
            <a:r>
              <a:rPr lang="en-US" b="0" i="0" u="none" strike="noStrike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nd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home or investment):</a:t>
            </a:r>
            <a:b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- need 6 months reserve (both subject and departing) if departing is less than 20% equity.</a:t>
            </a:r>
          </a:p>
          <a:p>
            <a:pPr marL="1084263" indent="-1084263"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	-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need 2 months reserve (both subject and departing) if departing is more than 20% equity.</a:t>
            </a:r>
          </a:p>
          <a:p>
            <a:pPr marL="1084263" indent="-1084263" algn="l"/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084263" indent="-1084263" algn="l"/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7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296" y="242507"/>
            <a:ext cx="8686801" cy="1006951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Liabilities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25" y="1137841"/>
            <a:ext cx="11432303" cy="524316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Student loan – amount on credit report or 1%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Co-signing liability – can be excluded if showing 6 months payments from other party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HELOC – actual payment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Alimony – deduct from income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Installment – less then 10 payments – do not count</a:t>
            </a:r>
            <a:endParaRPr lang="en-US" sz="3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7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296" y="242507"/>
            <a:ext cx="8686801" cy="1006951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Appraisal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798" y="1478309"/>
            <a:ext cx="11432303" cy="52431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Loan amount&lt;=$1.5M: 1 Appraisal + desk review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ea typeface="Calibri"/>
                <a:cs typeface="Calibri"/>
              </a:rPr>
              <a:t>Loan amount&gt;$1.5M:   2 Appraisal report</a:t>
            </a:r>
            <a:endParaRPr lang="en-US" sz="3000" dirty="0">
              <a:ea typeface="Calibri"/>
              <a:cs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/>
              <a:t>&gt; Max # of financed properties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Primary, 2nd – no limit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600" dirty="0"/>
              <a:t>Investment – 10 financed properties</a:t>
            </a:r>
          </a:p>
          <a:p>
            <a:pPr algn="l"/>
            <a:endParaRPr lang="en-US" sz="2800" dirty="0"/>
          </a:p>
          <a:p>
            <a:pPr marL="0" marR="0" lvl="0" indent="0" algn="l" defTabSz="1199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+mn-ea"/>
                <a:cs typeface="+mn-cs"/>
              </a:rPr>
              <a:t>**The financed property limit applies to the borrower’s ownership of 1-4 units financed properties **</a:t>
            </a:r>
          </a:p>
          <a:p>
            <a:pPr marL="0" marR="0" lvl="0" indent="0" algn="l" defTabSz="1199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>
              <a:solidFill>
                <a:srgbClr val="000000"/>
              </a:solidFill>
              <a:latin typeface="Book Antiqua"/>
            </a:endParaRPr>
          </a:p>
          <a:p>
            <a:pPr marL="0" marR="0" lvl="0" indent="0" algn="l" defTabSz="11993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solidFill>
                <a:srgbClr val="000000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sz="3000" dirty="0"/>
              <a:t>No 4 units + ADU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64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70" y="16503"/>
            <a:ext cx="8686801" cy="1006951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+mn-lt"/>
              </a:rPr>
              <a:t>Business license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070" y="1068318"/>
            <a:ext cx="11480943" cy="5400575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Must show at least 2 years + current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Current business license that does not have start date – not useful since cannot prove 2 years in business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l">
              <a:lnSpc>
                <a:spcPct val="120000"/>
              </a:lnSpc>
            </a:pPr>
            <a:endParaRPr lang="en-US" sz="2800" dirty="0"/>
          </a:p>
          <a:p>
            <a:pPr algn="l">
              <a:lnSpc>
                <a:spcPct val="120000"/>
              </a:lnSpc>
            </a:pPr>
            <a:endParaRPr lang="en-US" sz="28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				</a:t>
            </a:r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E5D45-0E24-D395-8A96-4221CEC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8A7AD-8147-A658-5EEC-908CA8D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6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B07DC-3E20-82D5-FEB5-908D18480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491" y="251184"/>
            <a:ext cx="4359018" cy="63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49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4FE80-3A35-2B06-EF7C-96B4A457E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284" y="388356"/>
            <a:ext cx="4511431" cy="60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00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0C85A-6A21-97D6-13C0-0CEC0617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200" y="696993"/>
            <a:ext cx="5311600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96058C-D23D-8616-5420-3107D064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58" y="1527783"/>
            <a:ext cx="7034510" cy="47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80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BA4A6-B2B3-A1B0-B842-D22F4042E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204" y="1512404"/>
            <a:ext cx="7521592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564" y="308501"/>
            <a:ext cx="9525183" cy="940957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Example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97" y="1646064"/>
            <a:ext cx="10394256" cy="4219716"/>
          </a:xfrm>
        </p:spPr>
        <p:txBody>
          <a:bodyPr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l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					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73F08-DE90-27B6-00D5-4E6F6546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GMCC Ocean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DABD-7FC5-E569-CAC0-9C7356B1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DC05E-C67D-440D-813E-141574F950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6215B3-B146-0D29-63BE-F6B62AB9E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212" y="1190046"/>
            <a:ext cx="4976805" cy="505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3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1efb9a-838d-4fe9-a8db-d391340490fb" xsi:nil="true"/>
    <lcf76f155ced4ddcb4097134ff3c332f xmlns="c378d81f-9352-4b03-8a49-3e3fadb51b8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CB929F14747646ABBEB3202B438CEB" ma:contentTypeVersion="14" ma:contentTypeDescription="Create a new document." ma:contentTypeScope="" ma:versionID="3564321bf0ba9a6b67b032e9f04362b3">
  <xsd:schema xmlns:xsd="http://www.w3.org/2001/XMLSchema" xmlns:xs="http://www.w3.org/2001/XMLSchema" xmlns:p="http://schemas.microsoft.com/office/2006/metadata/properties" xmlns:ns2="c378d81f-9352-4b03-8a49-3e3fadb51b80" xmlns:ns3="901efb9a-838d-4fe9-a8db-d391340490fb" targetNamespace="http://schemas.microsoft.com/office/2006/metadata/properties" ma:root="true" ma:fieldsID="7cc46c0dddcfff2270bb61e3e2a14228" ns2:_="" ns3:_="">
    <xsd:import namespace="c378d81f-9352-4b03-8a49-3e3fadb51b80"/>
    <xsd:import namespace="901efb9a-838d-4fe9-a8db-d39134049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8d81f-9352-4b03-8a49-3e3fadb51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986cbaf-5b42-4bc6-8c30-ab1a6f95cb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efb9a-838d-4fe9-a8db-d391340490f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62b647f-5bf8-4d13-b199-03c805890971}" ma:internalName="TaxCatchAll" ma:showField="CatchAllData" ma:web="901efb9a-838d-4fe9-a8db-d39134049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10D8-F721-4175-9BEF-4F79DA3C30FF}">
  <ds:schemaRefs>
    <ds:schemaRef ds:uri="c378d81f-9352-4b03-8a49-3e3fadb51b80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901efb9a-838d-4fe9-a8db-d391340490fb"/>
    <ds:schemaRef ds:uri="http://schemas.microsoft.com/office/infopath/2007/PartnerControls"/>
    <ds:schemaRef ds:uri="http://purl.org/dc/terms/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B1E79F-6D3E-4AC3-AC3E-812C4CD8FE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8EC071-4CFA-4650-BAE8-AB72B323A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78d81f-9352-4b03-8a49-3e3fadb51b80"/>
    <ds:schemaRef ds:uri="901efb9a-838d-4fe9-a8db-d391340490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3733</TotalTime>
  <Words>1468</Words>
  <Application>Microsoft Office PowerPoint</Application>
  <PresentationFormat>Widescreen</PresentationFormat>
  <Paragraphs>367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1_Office Theme</vt:lpstr>
      <vt:lpstr>GMCC Ocean In House Underwriting </vt:lpstr>
      <vt:lpstr>Special</vt:lpstr>
      <vt:lpstr>Programs</vt:lpstr>
      <vt:lpstr>Programs</vt:lpstr>
      <vt:lpstr>Programs</vt:lpstr>
      <vt:lpstr>Eligible borrower</vt:lpstr>
      <vt:lpstr>Eligible borrower</vt:lpstr>
      <vt:lpstr>Transactions</vt:lpstr>
      <vt:lpstr>DTI</vt:lpstr>
      <vt:lpstr>Income</vt:lpstr>
      <vt:lpstr>Income</vt:lpstr>
      <vt:lpstr>Income</vt:lpstr>
      <vt:lpstr>Income</vt:lpstr>
      <vt:lpstr>Credit</vt:lpstr>
      <vt:lpstr>Assets</vt:lpstr>
      <vt:lpstr>Reserve – Alt Doc</vt:lpstr>
      <vt:lpstr>Liabilities</vt:lpstr>
      <vt:lpstr>Appraisal</vt:lpstr>
      <vt:lpstr>Business license</vt:lpstr>
      <vt:lpstr>Example </vt:lpstr>
      <vt:lpstr>Example </vt:lpstr>
      <vt:lpstr>Example </vt:lpstr>
      <vt:lpstr>Example </vt:lpstr>
      <vt:lpstr>Example </vt:lpstr>
      <vt:lpstr>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gmcc</dc:creator>
  <cp:lastModifiedBy>Ping Duan</cp:lastModifiedBy>
  <cp:revision>92</cp:revision>
  <dcterms:created xsi:type="dcterms:W3CDTF">2019-04-08T22:47:19Z</dcterms:created>
  <dcterms:modified xsi:type="dcterms:W3CDTF">2025-12-24T03:21:41Z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0x01010025CB929F14747646ABBEB3202B438CEB</vt:lpwstr>
  </property>
  <property fmtid="{D5CDD505-2E9C-101B-9397-08002B2CF9AE}" pid="3" name="MediaServiceImageTags">
    <vt:lpwstr/>
  </property>
</Properties>
</file>